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4" r:id="rId1"/>
  </p:sldMasterIdLst>
  <p:sldIdLst>
    <p:sldId id="261" r:id="rId2"/>
    <p:sldId id="265" r:id="rId3"/>
    <p:sldId id="276" r:id="rId4"/>
    <p:sldId id="262" r:id="rId5"/>
    <p:sldId id="277" r:id="rId6"/>
    <p:sldId id="278" r:id="rId7"/>
    <p:sldId id="268" r:id="rId8"/>
    <p:sldId id="269" r:id="rId9"/>
    <p:sldId id="279" r:id="rId10"/>
    <p:sldId id="280" r:id="rId11"/>
    <p:sldId id="281" r:id="rId12"/>
    <p:sldId id="283" r:id="rId13"/>
    <p:sldId id="282" r:id="rId14"/>
    <p:sldId id="284" r:id="rId15"/>
    <p:sldId id="285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 smtClean="0"/>
              <a:t>Clique para editar o estilo do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2478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36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06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40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877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2911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83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136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549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05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1305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3631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071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6449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125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373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736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988E957-BD11-4FA6-9F70-973377B0686D}" type="datetimeFigureOut">
              <a:rPr lang="pt-BR" smtClean="0"/>
              <a:t>24/09/2024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9250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  <p:sldLayoutId id="2147484016" r:id="rId12"/>
    <p:sldLayoutId id="2147484017" r:id="rId13"/>
    <p:sldLayoutId id="2147484018" r:id="rId14"/>
    <p:sldLayoutId id="2147484019" r:id="rId15"/>
    <p:sldLayoutId id="2147484020" r:id="rId16"/>
    <p:sldLayoutId id="214748402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FUVEST </a:t>
            </a:r>
            <a:r>
              <a:rPr lang="pt-BR" dirty="0" smtClean="0"/>
              <a:t>6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FUVEST </a:t>
            </a:r>
            <a:r>
              <a:rPr lang="pt-BR" dirty="0" smtClean="0"/>
              <a:t>2023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004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230660"/>
            <a:ext cx="10396882" cy="659026"/>
          </a:xfrm>
        </p:spPr>
        <p:txBody>
          <a:bodyPr>
            <a:noAutofit/>
          </a:bodyPr>
          <a:lstStyle/>
          <a:p>
            <a:r>
              <a:rPr lang="pt-BR" sz="4000" dirty="0"/>
              <a:t>TEXTO PARA AS </a:t>
            </a:r>
            <a:r>
              <a:rPr lang="pt-BR" sz="4000" dirty="0" smtClean="0"/>
              <a:t>QUESTÕES </a:t>
            </a:r>
            <a:r>
              <a:rPr lang="pt-BR" sz="4000" dirty="0" smtClean="0"/>
              <a:t>32 a 34</a:t>
            </a:r>
            <a:endParaRPr lang="pt-BR" sz="40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013254"/>
            <a:ext cx="10394707" cy="4522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French electronic and Japanese indie to K-pop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Spanish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jazz, it’s common for people to listen to songs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don’t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necessarily understand. Not knowing the language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lyrics, it seems, doesn’t stop people from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liking—and sometimes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singing along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— a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song. Unless the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listener is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looking up the dictionary meaning of the lyrics, then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dictionary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of the lyrics doesn’t make or break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appreciation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song. But why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0" indent="0">
              <a:buNone/>
            </a:pP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a complicated answer,” said musicologist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Lisa </a:t>
            </a:r>
            <a:r>
              <a:rPr lang="en-US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Decenteceo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adding that it all starts with what’s called “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sound symbolism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 Sound symbolism refers to the study of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relationships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utterances and their meaning.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doesn’t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to do only with music. Marketers, for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can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 into sound symbolism as part of their strategy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coming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with appealing brand names. In music as well as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branding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Decenteceo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explained, there’s something about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appeal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words as sounds, beyond their meaning in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language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While things like culture and personal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experiences affect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people’s responses to different kinds of music,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 explained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certain musical techniques that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generally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convey certain moods. One of which is scale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“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Songs in a major scale usually have brighter, happier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sounds, while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scales usually have the slightly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darker, melancholic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feel,” explains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Thea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Tolentino, a music teacher.</a:t>
            </a:r>
            <a:endParaRPr lang="pt-BR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033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197708"/>
            <a:ext cx="10396882" cy="576649"/>
          </a:xfrm>
        </p:spPr>
        <p:txBody>
          <a:bodyPr>
            <a:noAutofit/>
          </a:bodyPr>
          <a:lstStyle/>
          <a:p>
            <a:r>
              <a:rPr lang="pt-BR" sz="4000" dirty="0"/>
              <a:t>TEXTO PARA AS </a:t>
            </a:r>
            <a:r>
              <a:rPr lang="pt-BR" sz="4000" dirty="0" smtClean="0"/>
              <a:t>QUESTÕES </a:t>
            </a:r>
            <a:r>
              <a:rPr lang="pt-BR" sz="4000" dirty="0" smtClean="0"/>
              <a:t>32 a 34</a:t>
            </a:r>
            <a:endParaRPr lang="pt-BR" sz="400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3"/>
          </p:nvPr>
        </p:nvSpPr>
        <p:spPr>
          <a:xfrm>
            <a:off x="685800" y="774358"/>
            <a:ext cx="10394707" cy="46002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human brain is wired to respond to sound, she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added. In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called entrainment, the brain “synchronizes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breathing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our movement, even neural activities with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sounds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hear.” This is why fast-paced music is so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popular for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running, for example, or why some yoga teachers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play rhythmic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melodic tracks in their classes. And there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also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things that accompany the words. “Elements of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sound and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like pitch, melody, harmony, timbre, and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amplitude have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affective, emotional, psychological, cognitive,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even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impact on listeners. Music adds so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much meaning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dimension to texts through a complex of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avenues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said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Decenteceo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What all these things do,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 added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liberate the words. “Song frees the voice from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 burden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saying anything meaningful”. It’s important,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then, to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music as a discourse between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musical elements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But all in all,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Decenteceo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said there’s value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whatever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appeal people find in the music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listen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to, whether or not they understand the words.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Music, after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all, is the universal language.</a:t>
            </a:r>
            <a:endParaRPr lang="pt-B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735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296563"/>
            <a:ext cx="10396882" cy="593124"/>
          </a:xfrm>
        </p:spPr>
        <p:txBody>
          <a:bodyPr>
            <a:normAutofit fontScale="90000"/>
          </a:bodyPr>
          <a:lstStyle/>
          <a:p>
            <a:r>
              <a:rPr lang="pt-BR" sz="4000" dirty="0" smtClean="0"/>
              <a:t>QUESTÃO </a:t>
            </a:r>
            <a:r>
              <a:rPr lang="pt-BR" sz="4000" dirty="0" smtClean="0"/>
              <a:t>32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685800" y="889687"/>
            <a:ext cx="10394707" cy="427543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acordo com o texto, os estudos sobre as propriedades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Som</a:t>
            </a:r>
          </a:p>
          <a:p>
            <a:pPr marL="0" indent="0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indicam a complexidade musical da canção </a:t>
            </a:r>
            <a:r>
              <a:rPr lang="pt-B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pop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contemporânea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podem ter reflexos em áreas como o </a:t>
            </a:r>
            <a:r>
              <a:rPr lang="pt-B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atividades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esportivas.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influenciam as pesquisas acadêmicas sobre o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fazer poético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revelam as estratégias enganosas empregadas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nas campanhas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publicitárias.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demonstram a falácia do conceito da música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como linguagem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universal.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647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296563"/>
            <a:ext cx="10396882" cy="593124"/>
          </a:xfrm>
        </p:spPr>
        <p:txBody>
          <a:bodyPr>
            <a:normAutofit fontScale="90000"/>
          </a:bodyPr>
          <a:lstStyle/>
          <a:p>
            <a:r>
              <a:rPr lang="pt-BR" sz="4000" dirty="0" smtClean="0"/>
              <a:t>QUESTÃO </a:t>
            </a:r>
            <a:r>
              <a:rPr lang="pt-BR" sz="4000" dirty="0" smtClean="0"/>
              <a:t>33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685800" y="889687"/>
            <a:ext cx="10394707" cy="44848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“there are certain musical techniques that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generally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convey certain moods” (2º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parágrafo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palavra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B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convey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poderia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 substituída, sem prejuízo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sentido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</a:t>
            </a:r>
          </a:p>
          <a:p>
            <a:pPr marL="0" indent="0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avoid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struggle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diminish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popularize.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522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296563"/>
            <a:ext cx="10396882" cy="593124"/>
          </a:xfrm>
        </p:spPr>
        <p:txBody>
          <a:bodyPr>
            <a:normAutofit fontScale="90000"/>
          </a:bodyPr>
          <a:lstStyle/>
          <a:p>
            <a:r>
              <a:rPr lang="pt-BR" sz="4000" dirty="0" smtClean="0"/>
              <a:t>QUESTÃO </a:t>
            </a:r>
            <a:r>
              <a:rPr lang="pt-BR" sz="4000" dirty="0" smtClean="0"/>
              <a:t>34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685800" y="889687"/>
            <a:ext cx="10394707" cy="44848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acordo com o texto, os aspectos físicos relacionados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 elementos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tanto do som quanto da música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são</a:t>
            </a:r>
          </a:p>
          <a:p>
            <a:pPr marL="0" indent="0">
              <a:buNone/>
            </a:pP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simbolismo e respiração.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letra e idioma.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timbre e amplitude.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brilho e melodia.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discurso e mensagem.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565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378942"/>
            <a:ext cx="10396882" cy="882840"/>
          </a:xfrm>
        </p:spPr>
        <p:txBody>
          <a:bodyPr>
            <a:normAutofit/>
          </a:bodyPr>
          <a:lstStyle/>
          <a:p>
            <a:r>
              <a:rPr lang="pt-BR" sz="4000" dirty="0" smtClean="0"/>
              <a:t>Questão 35</a:t>
            </a:r>
            <a:endParaRPr lang="pt-BR" sz="4000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629665" y="378942"/>
            <a:ext cx="4480096" cy="514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60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486033"/>
            <a:ext cx="10396882" cy="617837"/>
          </a:xfrm>
        </p:spPr>
        <p:txBody>
          <a:bodyPr>
            <a:noAutofit/>
          </a:bodyPr>
          <a:lstStyle/>
          <a:p>
            <a:r>
              <a:rPr lang="pt-BR" sz="4000" dirty="0" smtClean="0"/>
              <a:t>QUESTÃO </a:t>
            </a:r>
            <a:r>
              <a:rPr lang="pt-BR" sz="4000" dirty="0" smtClean="0"/>
              <a:t>35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685800" y="1581666"/>
            <a:ext cx="10394707" cy="3792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relação à compreensão do idioma inglês, o texto </a:t>
            </a: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ilustra</a:t>
            </a:r>
          </a:p>
          <a:p>
            <a:pPr marL="0" indent="0">
              <a:buNone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 disparidade entre ortografia e fonética.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circunstâncias de tempo e modo.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a ordem dos elementos na oração.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um conjunto de locuções adjetivas.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um problema de concordância verbal.</a:t>
            </a: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041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230660"/>
            <a:ext cx="10396882" cy="659026"/>
          </a:xfrm>
        </p:spPr>
        <p:txBody>
          <a:bodyPr>
            <a:noAutofit/>
          </a:bodyPr>
          <a:lstStyle/>
          <a:p>
            <a:r>
              <a:rPr lang="pt-BR" sz="4000" dirty="0"/>
              <a:t>TEXTO PARA AS </a:t>
            </a:r>
            <a:r>
              <a:rPr lang="pt-BR" sz="4000" dirty="0" smtClean="0"/>
              <a:t>QUESTÕES </a:t>
            </a:r>
            <a:r>
              <a:rPr lang="pt-BR" sz="4000" dirty="0" smtClean="0"/>
              <a:t>68</a:t>
            </a:r>
            <a:r>
              <a:rPr lang="pt-BR" sz="4000" dirty="0" smtClean="0"/>
              <a:t> a 70</a:t>
            </a:r>
            <a:endParaRPr lang="pt-BR" sz="40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013254"/>
            <a:ext cx="10394707" cy="4522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expression “dark doldrums” chills the hearts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renewable-energy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engineers, who use it to refer to the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lulls when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panels and wind turbines are thwarted by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clouds, night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still air. On a bright, cloudless day, a solar farm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generate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prodigious amounts of electricity. But at night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solar cells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little, and in calm air turbines sit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useless. 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dark doldrums make it difficult for us to rely totally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renewable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energy. Power companies need to plan not just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individual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storms or windless nights but for difficulties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can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stretch for days. Last year, Europe experienced a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weekslong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“wind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drought,” and in 2006 Hawaii endured six weeks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consecutive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rainy days. On a smaller scale, communities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want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go all-renewable need to fill the gaps. The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obvious solution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batteries, which power everything from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phones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electric vehicles; they are relatively inexpensive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make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getting cheaper. But typical models exhaust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stored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after only three or four hours of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maximum output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— as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smartphone owner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knows — their capacity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dwindles with each recharge. Moreover, it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expensive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enough batteries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cover longer </a:t>
            </a:r>
            <a:r>
              <a:rPr lang="pt-B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discharges</a:t>
            </a:r>
            <a:r>
              <a:rPr lang="pt-B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44751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230660"/>
            <a:ext cx="10396882" cy="659026"/>
          </a:xfrm>
        </p:spPr>
        <p:txBody>
          <a:bodyPr>
            <a:noAutofit/>
          </a:bodyPr>
          <a:lstStyle/>
          <a:p>
            <a:r>
              <a:rPr lang="pt-BR" sz="4000" dirty="0"/>
              <a:t>TEXTO PARA AS </a:t>
            </a:r>
            <a:r>
              <a:rPr lang="pt-BR" sz="4000" dirty="0" smtClean="0"/>
              <a:t>QUESTÕES </a:t>
            </a:r>
            <a:r>
              <a:rPr lang="pt-BR" sz="4000" dirty="0" smtClean="0"/>
              <a:t>68</a:t>
            </a:r>
            <a:r>
              <a:rPr lang="pt-BR" sz="4000" dirty="0" smtClean="0"/>
              <a:t> a 70</a:t>
            </a:r>
            <a:endParaRPr lang="pt-BR" sz="40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013254"/>
            <a:ext cx="10394707" cy="45225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already have one kind of renewable energy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more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ninety per cent of the world’s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energy-storage capacity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in reservoirs, as part of a technology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 pumped-storage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hydropower, used to smooth out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sharp increases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electricity demand. Motors pump water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uphill from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river or a reservoir to a higher reservoir; when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water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released downhill, it spins a turbine,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power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pumped-hydro installation is like a giant,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battery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charged when water is pumped uphill and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depleted as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flows down. Some countries are expanding their use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pumped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hydro, but the right geography is hard to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find, permits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difficult to obtain, and construction is slow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expensive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hunt is on for new approaches to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energy </a:t>
            </a:r>
            <a:r>
              <a:rPr lang="pt-B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108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296563"/>
            <a:ext cx="10396882" cy="593124"/>
          </a:xfrm>
        </p:spPr>
        <p:txBody>
          <a:bodyPr>
            <a:normAutofit fontScale="90000"/>
          </a:bodyPr>
          <a:lstStyle/>
          <a:p>
            <a:r>
              <a:rPr lang="pt-BR" sz="4000" dirty="0" smtClean="0"/>
              <a:t>QUESTÃO </a:t>
            </a:r>
            <a:r>
              <a:rPr lang="pt-BR" sz="4000" dirty="0" smtClean="0"/>
              <a:t>68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685800" y="889687"/>
            <a:ext cx="10394707" cy="46214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texto, a expressão “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dark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doldrums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descreve</a:t>
            </a:r>
          </a:p>
          <a:p>
            <a:pPr marL="0" indent="0">
              <a:buNone/>
            </a:pPr>
            <a:endParaRPr lang="pt-B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as mudanças climáticas atribuídas ao fenômeno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aquecimento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os altos custos implicados na construção de fontes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energia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renovável.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os debates entre ecologistas e defensores do emprego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energia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nuclear.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os períodos de inatividade de geradores de energia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como painéis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solares.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as dificuldades encontradas por comunidades rurais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 distribuir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eletricidade.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247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296563"/>
            <a:ext cx="10396882" cy="593124"/>
          </a:xfrm>
        </p:spPr>
        <p:txBody>
          <a:bodyPr>
            <a:normAutofit fontScale="90000"/>
          </a:bodyPr>
          <a:lstStyle/>
          <a:p>
            <a:r>
              <a:rPr lang="pt-BR" sz="4000" dirty="0" smtClean="0"/>
              <a:t>QUESTÃO </a:t>
            </a:r>
            <a:r>
              <a:rPr lang="pt-BR" sz="4000" dirty="0" smtClean="0"/>
              <a:t>69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685800" y="889687"/>
            <a:ext cx="10394707" cy="46214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“But typical models exhaust their stored energy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only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or four hours of maximum output,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— as every smartphone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owner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knows —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capacity dwindles with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pt-BR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recharge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 (2º parágrafo), “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dwindles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poderia ser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substituído, sem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prejuízo de sentido,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</a:t>
            </a:r>
          </a:p>
          <a:p>
            <a:pPr marL="0" indent="0">
              <a:buNone/>
            </a:pPr>
            <a:endParaRPr lang="pt-B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improves.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propagates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breaks.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decreases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397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296563"/>
            <a:ext cx="10396882" cy="593124"/>
          </a:xfrm>
        </p:spPr>
        <p:txBody>
          <a:bodyPr>
            <a:normAutofit fontScale="90000"/>
          </a:bodyPr>
          <a:lstStyle/>
          <a:p>
            <a:r>
              <a:rPr lang="pt-BR" sz="4000" dirty="0" smtClean="0"/>
              <a:t>QUESTÃO </a:t>
            </a:r>
            <a:r>
              <a:rPr lang="pt-BR" sz="4000" dirty="0" smtClean="0"/>
              <a:t>70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685800" y="889687"/>
            <a:ext cx="10394707" cy="46214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Segundo o texto, quando a geração de energia por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células solares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turbinas eólicas é insuficiente para atender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demanda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uma fonte de energia alternativa envolveria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conversão de</a:t>
            </a:r>
          </a:p>
          <a:p>
            <a:pPr marL="0" indent="0">
              <a:buNone/>
            </a:pPr>
            <a:endParaRPr lang="pt-B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energia nuclear em elétrica.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energia mecânica em térmica.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energia mecânica em elétrica.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energia solar em mecânica.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energia química em elétrica.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854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378942"/>
            <a:ext cx="10396882" cy="882840"/>
          </a:xfrm>
        </p:spPr>
        <p:txBody>
          <a:bodyPr>
            <a:normAutofit/>
          </a:bodyPr>
          <a:lstStyle/>
          <a:p>
            <a:r>
              <a:rPr lang="pt-BR" sz="4000" dirty="0" smtClean="0"/>
              <a:t>Questão 75</a:t>
            </a:r>
            <a:endParaRPr lang="pt-BR" sz="4000" dirty="0"/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715492" y="700216"/>
            <a:ext cx="7328810" cy="442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17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296563"/>
            <a:ext cx="10396882" cy="593124"/>
          </a:xfrm>
        </p:spPr>
        <p:txBody>
          <a:bodyPr>
            <a:normAutofit fontScale="90000"/>
          </a:bodyPr>
          <a:lstStyle/>
          <a:p>
            <a:r>
              <a:rPr lang="pt-BR" sz="4000" dirty="0" smtClean="0"/>
              <a:t>QUESTÃO </a:t>
            </a:r>
            <a:r>
              <a:rPr lang="pt-BR" sz="4000" dirty="0" smtClean="0"/>
              <a:t>75</a:t>
            </a:r>
            <a:endParaRPr lang="pt-BR" sz="4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685800" y="889687"/>
            <a:ext cx="10394707" cy="46214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meme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inadequação da resposta à questão está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baseada no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efeito de sentido proveniente da presença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</a:p>
          <a:p>
            <a:pPr marL="0" indent="0">
              <a:buNone/>
            </a:pPr>
            <a:endParaRPr lang="pt-B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metáfora.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trocadilho.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sinédoque.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eufemismo.</a:t>
            </a:r>
          </a:p>
          <a:p>
            <a:pPr marL="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comparação.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4548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132</TotalTime>
  <Words>1401</Words>
  <Application>Microsoft Office PowerPoint</Application>
  <PresentationFormat>Widescreen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Impact</vt:lpstr>
      <vt:lpstr>Times New Roman</vt:lpstr>
      <vt:lpstr>Evento Principal</vt:lpstr>
      <vt:lpstr>FUVEST 6</vt:lpstr>
      <vt:lpstr>TEXTO PARA AS QUESTÕES 32 a 34</vt:lpstr>
      <vt:lpstr>TEXTO PARA AS QUESTÕES 32 a 34</vt:lpstr>
      <vt:lpstr>QUESTÃO 32</vt:lpstr>
      <vt:lpstr>QUESTÃO 33</vt:lpstr>
      <vt:lpstr>QUESTÃO 34</vt:lpstr>
      <vt:lpstr>Questão 35</vt:lpstr>
      <vt:lpstr>QUESTÃO 35</vt:lpstr>
      <vt:lpstr>TEXTO PARA AS QUESTÕES 68 a 70</vt:lpstr>
      <vt:lpstr>TEXTO PARA AS QUESTÕES 68 a 70</vt:lpstr>
      <vt:lpstr>QUESTÃO 68</vt:lpstr>
      <vt:lpstr>QUESTÃO 69</vt:lpstr>
      <vt:lpstr>QUESTÃO 70</vt:lpstr>
      <vt:lpstr>Questão 75</vt:lpstr>
      <vt:lpstr>QUESTÃO 75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de capa</dc:title>
  <dc:creator>Amanda</dc:creator>
  <cp:lastModifiedBy>Renata</cp:lastModifiedBy>
  <cp:revision>51</cp:revision>
  <dcterms:created xsi:type="dcterms:W3CDTF">2021-06-09T20:44:29Z</dcterms:created>
  <dcterms:modified xsi:type="dcterms:W3CDTF">2024-09-24T22:03:04Z</dcterms:modified>
</cp:coreProperties>
</file>