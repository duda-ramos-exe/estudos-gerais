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4" r:id="rId1"/>
  </p:sldMasterIdLst>
  <p:sldIdLst>
    <p:sldId id="260" r:id="rId2"/>
    <p:sldId id="258" r:id="rId3"/>
    <p:sldId id="261" r:id="rId4"/>
    <p:sldId id="262" r:id="rId5"/>
    <p:sldId id="263" r:id="rId6"/>
    <p:sldId id="270" r:id="rId7"/>
    <p:sldId id="265" r:id="rId8"/>
    <p:sldId id="272" r:id="rId9"/>
    <p:sldId id="271" r:id="rId10"/>
    <p:sldId id="269" r:id="rId11"/>
    <p:sldId id="268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 smtClean="0"/>
              <a:t>Clique para editar o estilo do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0988E957-BD11-4FA6-9F70-973377B0686D}" type="datetimeFigureOut">
              <a:rPr lang="pt-BR" smtClean="0"/>
              <a:t>30/07/2024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52478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30/07/2024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3363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30/07/2024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0061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30/07/2024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7401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30/07/2024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8777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30/07/2024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2911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30/07/2024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4832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30/07/2024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1136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30/07/2024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9549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grafia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30/07/2024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056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30/07/2024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1305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30/07/2024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336310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30/07/2024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90718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30/07/2024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64494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na de 3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 smtClean="0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 smtClean="0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 smtClean="0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30/07/2024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81255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30/07/2024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53738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30/07/2024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7361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0988E957-BD11-4FA6-9F70-973377B0686D}" type="datetimeFigureOut">
              <a:rPr lang="pt-BR" smtClean="0"/>
              <a:t>30/07/2024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9250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5" r:id="rId1"/>
    <p:sldLayoutId id="2147484006" r:id="rId2"/>
    <p:sldLayoutId id="2147484007" r:id="rId3"/>
    <p:sldLayoutId id="2147484008" r:id="rId4"/>
    <p:sldLayoutId id="2147484009" r:id="rId5"/>
    <p:sldLayoutId id="2147484010" r:id="rId6"/>
    <p:sldLayoutId id="2147484011" r:id="rId7"/>
    <p:sldLayoutId id="2147484012" r:id="rId8"/>
    <p:sldLayoutId id="2147484013" r:id="rId9"/>
    <p:sldLayoutId id="2147484014" r:id="rId10"/>
    <p:sldLayoutId id="2147484015" r:id="rId11"/>
    <p:sldLayoutId id="2147484016" r:id="rId12"/>
    <p:sldLayoutId id="2147484017" r:id="rId13"/>
    <p:sldLayoutId id="2147484018" r:id="rId14"/>
    <p:sldLayoutId id="2147484019" r:id="rId15"/>
    <p:sldLayoutId id="2147484020" r:id="rId16"/>
    <p:sldLayoutId id="214748402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ENEM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127677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1" y="71388"/>
            <a:ext cx="10396882" cy="636950"/>
          </a:xfrm>
        </p:spPr>
        <p:txBody>
          <a:bodyPr>
            <a:normAutofit/>
          </a:bodyPr>
          <a:lstStyle/>
          <a:p>
            <a:r>
              <a:rPr lang="pt-BR" sz="3200" dirty="0" smtClean="0"/>
              <a:t>Questão 1</a:t>
            </a:r>
            <a:endParaRPr lang="pt-BR" sz="3200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quarter" idx="13"/>
          </p:nvPr>
        </p:nvSpPr>
        <p:spPr>
          <a:xfrm>
            <a:off x="685800" y="708338"/>
            <a:ext cx="10394707" cy="466624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pt-BR" sz="1000" dirty="0" smtClean="0"/>
          </a:p>
          <a:p>
            <a:pPr marL="0" indent="0">
              <a:buNone/>
            </a:pPr>
            <a:endParaRPr lang="pt-BR" sz="1000" dirty="0"/>
          </a:p>
          <a:p>
            <a:pPr marL="0" indent="0">
              <a:buNone/>
            </a:pPr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(ENEM, </a:t>
            </a:r>
            <a:r>
              <a:rPr lang="pt-BR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2014) </a:t>
            </a:r>
            <a:endParaRPr lang="pt-BR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BR" sz="1000" dirty="0" smtClean="0"/>
          </a:p>
          <a:p>
            <a:pPr marL="0" indent="0">
              <a:buNone/>
            </a:pPr>
            <a:endParaRPr lang="pt-BR" sz="1000" dirty="0"/>
          </a:p>
          <a:p>
            <a:pPr marL="0" indent="0">
              <a:buNone/>
            </a:pPr>
            <a:endParaRPr lang="pt-BR" sz="1000" dirty="0" smtClean="0"/>
          </a:p>
          <a:p>
            <a:pPr marL="0" indent="0">
              <a:buNone/>
            </a:pPr>
            <a:endParaRPr lang="pt-BR" sz="1000" dirty="0"/>
          </a:p>
          <a:p>
            <a:pPr marL="0" indent="0">
              <a:buNone/>
            </a:pPr>
            <a:endParaRPr lang="pt-BR" sz="1000" dirty="0" smtClean="0"/>
          </a:p>
          <a:p>
            <a:pPr marL="0" indent="0">
              <a:buNone/>
            </a:pPr>
            <a:endParaRPr lang="pt-BR" sz="1000" dirty="0"/>
          </a:p>
          <a:p>
            <a:pPr marL="0" indent="0">
              <a:buNone/>
            </a:pPr>
            <a:endParaRPr lang="pt-BR" sz="1000" dirty="0" smtClean="0"/>
          </a:p>
          <a:p>
            <a:pPr marL="0" indent="0">
              <a:buNone/>
            </a:pPr>
            <a:endParaRPr lang="pt-BR" sz="1000" dirty="0"/>
          </a:p>
          <a:p>
            <a:pPr marL="0" indent="0">
              <a:buNone/>
            </a:pPr>
            <a:endParaRPr lang="pt-BR" sz="1000" dirty="0" smtClean="0"/>
          </a:p>
          <a:p>
            <a:pPr marL="0" indent="0">
              <a:buNone/>
            </a:pPr>
            <a:endParaRPr lang="pt-BR" sz="1000" dirty="0"/>
          </a:p>
          <a:p>
            <a:pPr marL="0" indent="0">
              <a:buNone/>
            </a:pPr>
            <a:endParaRPr lang="pt-BR" sz="1000" dirty="0" smtClean="0"/>
          </a:p>
          <a:p>
            <a:pPr marL="0" indent="0">
              <a:buNone/>
            </a:pPr>
            <a:endParaRPr lang="pt-BR" sz="1000" dirty="0" smtClean="0"/>
          </a:p>
          <a:p>
            <a:pPr marL="0" indent="0">
              <a:buNone/>
            </a:pPr>
            <a:endParaRPr lang="pt-BR" sz="1000" dirty="0" smtClean="0"/>
          </a:p>
          <a:p>
            <a:pPr marL="0" indent="0">
              <a:buNone/>
            </a:pPr>
            <a:endParaRPr lang="pt-BR" sz="1000" dirty="0" smtClean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2136" y="304046"/>
            <a:ext cx="3453150" cy="526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984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1" y="283336"/>
            <a:ext cx="10396882" cy="682579"/>
          </a:xfrm>
        </p:spPr>
        <p:txBody>
          <a:bodyPr>
            <a:normAutofit/>
          </a:bodyPr>
          <a:lstStyle/>
          <a:p>
            <a:r>
              <a:rPr lang="pt-BR" sz="3600" dirty="0"/>
              <a:t>Questão 1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sz="quarter" idx="13"/>
          </p:nvPr>
        </p:nvSpPr>
        <p:spPr>
          <a:xfrm>
            <a:off x="685800" y="965916"/>
            <a:ext cx="10394707" cy="440867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título e no subtítulo desse texto, as expressões </a:t>
            </a:r>
            <a:r>
              <a:rPr 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pt-BR" sz="16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Tall</a:t>
            </a:r>
            <a:r>
              <a:rPr 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pt-BR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pt-BR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sky</a:t>
            </a:r>
            <a:r>
              <a:rPr 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isn’t</a:t>
            </a:r>
            <a:r>
              <a:rPr 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limit</a:t>
            </a:r>
            <a:r>
              <a:rPr 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são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usadas para </a:t>
            </a: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apresentar uma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matéria cujo tema é</a:t>
            </a: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Inovações tecnológicas usadas para a construção </a:t>
            </a: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 um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novo arranha-céu em Seul</a:t>
            </a: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 Confissões de um arquiteto que busca se destacar na construção de arranha-céus.</a:t>
            </a:r>
          </a:p>
          <a:p>
            <a:pPr marL="0" indent="0">
              <a:buNone/>
            </a:pP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(C)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Técnicas a serem estabelecidas para a construção </a:t>
            </a: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 edifícios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altos na </a:t>
            </a: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Califórnia</a:t>
            </a: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(D)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Competição entre arquitetos para a construção </a:t>
            </a: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 edifício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mais alto do mundo</a:t>
            </a: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(E)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Construção de altas torres de apartamentos </a:t>
            </a: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nas grandes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metrópoles da Ásia</a:t>
            </a: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917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61088" y="180135"/>
            <a:ext cx="10396882" cy="553792"/>
          </a:xfrm>
        </p:spPr>
        <p:txBody>
          <a:bodyPr>
            <a:noAutofit/>
          </a:bodyPr>
          <a:lstStyle/>
          <a:p>
            <a:r>
              <a:rPr lang="pt-BR" sz="3200" dirty="0"/>
              <a:t>Questão </a:t>
            </a:r>
            <a:r>
              <a:rPr lang="pt-BR" sz="3200" dirty="0" smtClean="0"/>
              <a:t>2</a:t>
            </a:r>
            <a:endParaRPr lang="pt-BR" sz="3200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4011827" y="426547"/>
            <a:ext cx="4110681" cy="5111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742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1" y="244700"/>
            <a:ext cx="10396882" cy="656821"/>
          </a:xfrm>
        </p:spPr>
        <p:txBody>
          <a:bodyPr>
            <a:normAutofit/>
          </a:bodyPr>
          <a:lstStyle/>
          <a:p>
            <a:r>
              <a:rPr lang="pt-BR" sz="3200" dirty="0"/>
              <a:t>Questão </a:t>
            </a:r>
            <a:r>
              <a:rPr lang="pt-BR" sz="3200" dirty="0" smtClean="0"/>
              <a:t>2</a:t>
            </a:r>
            <a:endParaRPr lang="pt-BR" sz="3200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quarter" idx="13"/>
          </p:nvPr>
        </p:nvSpPr>
        <p:spPr>
          <a:xfrm>
            <a:off x="685800" y="901522"/>
            <a:ext cx="10394707" cy="44730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 letra da canção </a:t>
            </a:r>
            <a:r>
              <a:rPr 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Masters </a:t>
            </a:r>
            <a:r>
              <a:rPr lang="pt-BR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War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há questionamentos </a:t>
            </a: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 reflexões que aparecem na forma de protesto contra</a:t>
            </a:r>
            <a:endParaRPr 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A)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envio de jovens à guerra para promover a </a:t>
            </a: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expansão territorial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dos Estados Unidos</a:t>
            </a: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B)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comportamento dos soldados norte-americanos </a:t>
            </a: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nas guerras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que participaram.</a:t>
            </a:r>
            <a:endParaRPr lang="pt-BR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(C)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sistema que recruta soldados para </a:t>
            </a: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guerras motivadas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 interesses econômicos</a:t>
            </a: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D)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desinteresse do governo pelas famílias dos </a:t>
            </a: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soldados mortos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 campos de batalha</a:t>
            </a: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E)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Forças Armadas norte-americanas, que </a:t>
            </a: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enviavam homens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despreparados para as guerras.</a:t>
            </a:r>
            <a:endParaRPr lang="pt-BR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438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61088" y="180135"/>
            <a:ext cx="10396882" cy="553792"/>
          </a:xfrm>
        </p:spPr>
        <p:txBody>
          <a:bodyPr>
            <a:noAutofit/>
          </a:bodyPr>
          <a:lstStyle/>
          <a:p>
            <a:r>
              <a:rPr lang="pt-BR" sz="3200" dirty="0"/>
              <a:t>Questão </a:t>
            </a:r>
            <a:r>
              <a:rPr lang="pt-BR" sz="3200" dirty="0"/>
              <a:t>3</a:t>
            </a:r>
            <a:endParaRPr lang="pt-BR" sz="32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661089" y="901861"/>
            <a:ext cx="1011192" cy="24319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(Enem 2014)</a:t>
            </a:r>
            <a:endParaRPr lang="pt-BR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950" y="1983470"/>
            <a:ext cx="4961413" cy="1039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382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1" y="321972"/>
            <a:ext cx="10396882" cy="566671"/>
          </a:xfrm>
        </p:spPr>
        <p:txBody>
          <a:bodyPr>
            <a:normAutofit fontScale="90000"/>
          </a:bodyPr>
          <a:lstStyle/>
          <a:p>
            <a:r>
              <a:rPr lang="pt-BR" sz="3600" dirty="0"/>
              <a:t>Questão </a:t>
            </a:r>
            <a:r>
              <a:rPr lang="pt-BR" sz="3600" dirty="0" smtClean="0"/>
              <a:t>3</a:t>
            </a:r>
            <a:endParaRPr lang="pt-BR" sz="3600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quarter" idx="13"/>
          </p:nvPr>
        </p:nvSpPr>
        <p:spPr>
          <a:xfrm>
            <a:off x="685800" y="991674"/>
            <a:ext cx="10394707" cy="43829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Estes são os versos finais do famoso poema </a:t>
            </a:r>
            <a:r>
              <a:rPr lang="pt-BR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Road </a:t>
            </a:r>
            <a:r>
              <a:rPr lang="pt-BR" sz="16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pt-BR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Taken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do poeta americano Robert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Frost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Levando-se em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consideração que a vida é comumente </a:t>
            </a: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metaforizada como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uma viagem, esses versos indicam que o </a:t>
            </a: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autor</a:t>
            </a:r>
          </a:p>
          <a:p>
            <a:pPr marL="0" indent="0">
              <a:buNone/>
            </a:pP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</a:t>
            </a: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festeja o fato de ter sido ousado na escolha que </a:t>
            </a: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fez em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sua vida</a:t>
            </a: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B)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lamenta por ter sido um viajante que encontrou </a:t>
            </a: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muitas bifurcações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(C)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viaja muito pouco e que essa escolha fez toda </a:t>
            </a: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diferença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 sua vida</a:t>
            </a: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D) </a:t>
            </a: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reconhece que as dificuldades em sua vida foram </a:t>
            </a: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todas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superadas.</a:t>
            </a:r>
            <a:endParaRPr lang="pt-BR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(E)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percorre várias estradas durante as diferentes </a:t>
            </a: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fases de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sua vida.</a:t>
            </a:r>
            <a:endParaRPr lang="pt-BR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8859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</a:t>
            </a:r>
            <a:r>
              <a:rPr lang="pt-BR" dirty="0"/>
              <a:t>4</a:t>
            </a:r>
            <a:endParaRPr lang="pt-BR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quarter" idx="13"/>
          </p:nvPr>
        </p:nvSpPr>
        <p:spPr>
          <a:xfrm>
            <a:off x="685800" y="1738648"/>
            <a:ext cx="10394707" cy="3760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/>
            </a:r>
            <a:br>
              <a:rPr lang="pt-BR" dirty="0"/>
            </a:br>
            <a:endParaRPr lang="pt-BR" dirty="0" smtClean="0"/>
          </a:p>
        </p:txBody>
      </p:sp>
      <p:pic>
        <p:nvPicPr>
          <p:cNvPr id="1026" name="Picture 2" descr="https://s.concursosnobrasil.com.br/media/f/10-questoes-de-ingles-do-enem-comentadas-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3206" y="1738648"/>
            <a:ext cx="5591983" cy="3618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4654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Questão 4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internet tem servido a diferentes interesses, ampliando, muitas vezes, o contato entre pessoas e instituições. Um exemplo disso é o site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WeFeedback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 qual a internauta Kate Watts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comprou comida em promoção.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inscreveu-se em um concurso.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fez doação para caridade.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participou de pesquisa de opinião.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e) voluntariou-se para trabalho social.</a:t>
            </a:r>
          </a:p>
        </p:txBody>
      </p:sp>
    </p:spTree>
    <p:extLst>
      <p:ext uri="{BB962C8B-B14F-4D97-AF65-F5344CB8AC3E}">
        <p14:creationId xmlns:p14="http://schemas.microsoft.com/office/powerpoint/2010/main" val="1631500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1" y="334853"/>
            <a:ext cx="10396882" cy="472456"/>
          </a:xfrm>
        </p:spPr>
        <p:txBody>
          <a:bodyPr>
            <a:normAutofit fontScale="90000"/>
          </a:bodyPr>
          <a:lstStyle/>
          <a:p>
            <a:r>
              <a:rPr lang="pt-BR" sz="2800" dirty="0"/>
              <a:t>Questão </a:t>
            </a:r>
            <a:r>
              <a:rPr lang="pt-BR" sz="2800" dirty="0" smtClean="0"/>
              <a:t>5</a:t>
            </a:r>
            <a:endParaRPr lang="pt-BR" sz="2800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quarter" idx="13"/>
          </p:nvPr>
        </p:nvSpPr>
        <p:spPr>
          <a:xfrm>
            <a:off x="685800" y="940158"/>
            <a:ext cx="10394707" cy="45591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smtClean="0"/>
              <a:t>			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71" y="1422605"/>
            <a:ext cx="10392236" cy="3154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162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</a:t>
            </a:r>
            <a:r>
              <a:rPr lang="pt-BR" dirty="0" smtClean="0"/>
              <a:t>5</a:t>
            </a:r>
            <a:endParaRPr lang="pt-BR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quarter" idx="13"/>
          </p:nvPr>
        </p:nvSpPr>
        <p:spPr>
          <a:xfrm>
            <a:off x="685800" y="1738648"/>
            <a:ext cx="10394707" cy="3760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Considerando as ideias apresentadas no texto, o </a:t>
            </a:r>
            <a:r>
              <a:rPr lang="pt-BR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Globish</a:t>
            </a:r>
            <a:r>
              <a:rPr 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</a:t>
            </a:r>
            <a:r>
              <a:rPr lang="pt-BR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English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é uma variedade da língua inglesa </a:t>
            </a: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que</a:t>
            </a:r>
          </a:p>
          <a:p>
            <a:pPr marL="0" indent="0">
              <a:buNone/>
            </a:pP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tem </a:t>
            </a:r>
            <a:r>
              <a:rPr 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 </a:t>
            </a:r>
            <a:r>
              <a:rPr lang="pt-BR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 língua por refletir uma cultura global.</a:t>
            </a:r>
          </a:p>
          <a:p>
            <a:pPr marL="0" indent="0">
              <a:buNone/>
            </a:pP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B)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facilita o entendimento entre o falante nativo e o não nativo</a:t>
            </a: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C)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 as mesmas características de projetos utópicos como o esperanto</a:t>
            </a: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D)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altera a estrutura do idioma para possibilitar a comunicação internacional</a:t>
            </a: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E)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apresenta padrões de fala idênticos aos da variedade usada pelos falantes nativos.</a:t>
            </a:r>
            <a:endParaRPr lang="pt-BR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76701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vento Principal">
  <a:themeElements>
    <a:clrScheme name="Evento Principal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Evento Principal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vento Principal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Evento Principal</Template>
  <TotalTime>176</TotalTime>
  <Words>480</Words>
  <Application>Microsoft Office PowerPoint</Application>
  <PresentationFormat>Widescreen</PresentationFormat>
  <Paragraphs>55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Impact</vt:lpstr>
      <vt:lpstr>Times New Roman</vt:lpstr>
      <vt:lpstr>Evento Principal</vt:lpstr>
      <vt:lpstr>ENEM</vt:lpstr>
      <vt:lpstr>Questão 1</vt:lpstr>
      <vt:lpstr>Questão 1</vt:lpstr>
      <vt:lpstr>Questão 2</vt:lpstr>
      <vt:lpstr>Questão 2</vt:lpstr>
      <vt:lpstr>Questão 3</vt:lpstr>
      <vt:lpstr>Questão 3</vt:lpstr>
      <vt:lpstr>Questão 4</vt:lpstr>
      <vt:lpstr>Questão 4</vt:lpstr>
      <vt:lpstr>Questão 5</vt:lpstr>
      <vt:lpstr>Questão 5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de capa</dc:title>
  <dc:creator>Amanda</dc:creator>
  <cp:lastModifiedBy>Renata</cp:lastModifiedBy>
  <cp:revision>98</cp:revision>
  <dcterms:created xsi:type="dcterms:W3CDTF">2021-06-09T20:44:29Z</dcterms:created>
  <dcterms:modified xsi:type="dcterms:W3CDTF">2024-07-30T23:17:27Z</dcterms:modified>
</cp:coreProperties>
</file>